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92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CORE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2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Intent to Personalized KOHLER Bathroom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38048" y="1298448"/>
            <a:ext cx="2395728" cy="1225296"/>
          </a:xfrm>
          <a:prstGeom prst="roundRect">
            <a:avLst>
              <a:gd name="adj" fmla="val 5970"/>
            </a:avLst>
          </a:prstGeom>
          <a:solidFill>
            <a:srgbClr val="111111"/>
          </a:solidFill>
          <a:ln w="9525">
            <a:solidFill>
              <a:srgbClr val="B7B7B7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29488" y="1298448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52064" y="1810512"/>
            <a:ext cx="274320" cy="201168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3544672" y="1298448"/>
            <a:ext cx="2395728" cy="1225296"/>
          </a:xfrm>
          <a:prstGeom prst="roundRect">
            <a:avLst>
              <a:gd name="adj" fmla="val 5970"/>
            </a:avLst>
          </a:prstGeom>
          <a:solidFill>
            <a:srgbClr val="F4F4F4"/>
          </a:solidFill>
          <a:ln w="9525">
            <a:solidFill>
              <a:srgbClr val="B7B7B7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36112" y="1298448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58688" y="1810512"/>
            <a:ext cx="274320" cy="201168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1296" y="1298448"/>
            <a:ext cx="2395728" cy="1225296"/>
          </a:xfrm>
          <a:prstGeom prst="roundRect">
            <a:avLst>
              <a:gd name="adj" fmla="val 5970"/>
            </a:avLst>
          </a:prstGeom>
          <a:solidFill>
            <a:srgbClr val="F4F4F4"/>
          </a:solidFill>
          <a:ln w="9525">
            <a:solidFill>
              <a:srgbClr val="B7B7B7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42736" y="1298448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65312" y="1810512"/>
            <a:ext cx="274320" cy="201168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8957920" y="1298448"/>
            <a:ext cx="2395728" cy="1225296"/>
          </a:xfrm>
          <a:prstGeom prst="roundRect">
            <a:avLst>
              <a:gd name="adj" fmla="val 5970"/>
            </a:avLst>
          </a:prstGeom>
          <a:solidFill>
            <a:srgbClr val="3C3C3C"/>
          </a:solidFill>
          <a:ln w="9525">
            <a:solidFill>
              <a:srgbClr val="3C3C3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49360" y="142646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085936" y="20848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dimensions · Budget · Theme · Product preferences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155784" y="2523744"/>
            <a:ext cx="0" cy="45720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38048" y="303580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9525">
            <a:solidFill>
              <a:srgbClr val="B7B7B7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29488" y="303580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/ 3D / 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52064" y="3392424"/>
            <a:ext cx="274320" cy="201168"/>
          </a:xfrm>
          <a:prstGeom prst="leftArrow">
            <a:avLst/>
          </a:prstGeom>
          <a:solidFill>
            <a:srgbClr val="8C8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3544672" y="303580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B7B7B7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636112" y="303580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DESIGN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58688" y="3392424"/>
            <a:ext cx="274320" cy="201168"/>
          </a:xfrm>
          <a:prstGeom prst="leftArrow">
            <a:avLst/>
          </a:prstGeom>
          <a:solidFill>
            <a:srgbClr val="8C8C8C"/>
          </a:solidFill>
          <a:ln/>
        </p:spPr>
      </p:sp>
      <p:sp>
        <p:nvSpPr>
          <p:cNvPr id="29" name="Shape 27"/>
          <p:cNvSpPr/>
          <p:nvPr/>
        </p:nvSpPr>
        <p:spPr>
          <a:xfrm>
            <a:off x="6251296" y="303580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B7B7B7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342736" y="303580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665312" y="3392424"/>
            <a:ext cx="274320" cy="201168"/>
          </a:xfrm>
          <a:prstGeom prst="leftArrow">
            <a:avLst/>
          </a:prstGeom>
          <a:solidFill>
            <a:srgbClr val="8C8C8C"/>
          </a:solidFill>
          <a:ln/>
        </p:spPr>
      </p:sp>
      <p:sp>
        <p:nvSpPr>
          <p:cNvPr id="32" name="Shape 30"/>
          <p:cNvSpPr/>
          <p:nvPr/>
        </p:nvSpPr>
        <p:spPr>
          <a:xfrm>
            <a:off x="8957920" y="303580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3C3C3C"/>
          </a:solidFill>
          <a:ln w="9525">
            <a:solidFill>
              <a:srgbClr val="B7B7B7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049360" y="303580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PRODUCT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4261104"/>
            <a:ext cx="2668448" cy="786384"/>
          </a:xfrm>
          <a:prstGeom prst="roundRect">
            <a:avLst>
              <a:gd name="adj" fmla="val 6977"/>
            </a:avLst>
          </a:prstGeom>
          <a:solidFill>
            <a:srgbClr val="EFEFE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5216" y="4334256"/>
            <a:ext cx="241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85216" y="4517136"/>
            <a:ext cx="241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first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26816" y="4261104"/>
            <a:ext cx="2668448" cy="786384"/>
          </a:xfrm>
          <a:prstGeom prst="roundRect">
            <a:avLst>
              <a:gd name="adj" fmla="val 6977"/>
            </a:avLst>
          </a:prstGeom>
          <a:solidFill>
            <a:srgbClr val="EFEFE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54832" y="4334256"/>
            <a:ext cx="241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454832" y="4517136"/>
            <a:ext cx="241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understanding &amp; orchestration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6432" y="4261104"/>
            <a:ext cx="2668448" cy="786384"/>
          </a:xfrm>
          <a:prstGeom prst="roundRect">
            <a:avLst>
              <a:gd name="adj" fmla="val 6977"/>
            </a:avLst>
          </a:prstGeom>
          <a:solidFill>
            <a:srgbClr val="EFEFE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4448" y="4334256"/>
            <a:ext cx="241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324448" y="4517136"/>
            <a:ext cx="241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logic for validation &amp; execution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66047" y="4261104"/>
            <a:ext cx="2668448" cy="786384"/>
          </a:xfrm>
          <a:prstGeom prst="roundRect">
            <a:avLst>
              <a:gd name="adj" fmla="val 6977"/>
            </a:avLst>
          </a:prstGeom>
          <a:solidFill>
            <a:srgbClr val="EFEFE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94063" y="4334256"/>
            <a:ext cx="241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194063" y="4517136"/>
            <a:ext cx="241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state powering multiple experiences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5303520"/>
            <a:ext cx="11277295" cy="841248"/>
          </a:xfrm>
          <a:prstGeom prst="roundRect">
            <a:avLst>
              <a:gd name="adj" fmla="val 8696"/>
            </a:avLst>
          </a:prstGeom>
          <a:solidFill>
            <a:srgbClr val="11111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2960" y="5303520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is not just to recommend products — it is to turn user requirements into an executable bathroom design.</a:t>
            </a:r>
            <a:endParaRPr lang="en-US" sz="15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327648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  →   INTELLIGENCE   →   FEASIBLE DESIGN   →   EXPERIENCE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1091153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04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AI BATHROOM DESIGNER &amp; PLANNER</a:t>
            </a:r>
            <a:endParaRPr lang="en-US" sz="9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6A503E7-8ED5-BA0A-0F31-539AEB50B2D7}"/>
              </a:ext>
            </a:extLst>
          </p:cNvPr>
          <p:cNvSpPr/>
          <p:nvPr/>
        </p:nvSpPr>
        <p:spPr>
          <a:xfrm>
            <a:off x="7237562" y="138023"/>
            <a:ext cx="4658264" cy="10872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Track1: KOHLER AI Bathroom Designer &amp; Planner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N A M E: Archita Jha 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P R N : 1262243200</a:t>
            </a:r>
            <a:endParaRPr lang="en-IN" sz="1600" b="1" dirty="0">
              <a:solidFill>
                <a:schemeClr val="tx1"/>
              </a:solidFill>
            </a:endParaRPr>
          </a:p>
          <a:p>
            <a:pPr algn="ctr"/>
            <a:endParaRPr lang="en-IN" sz="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2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+ Product Intelligence + Visualization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53312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20700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1298448"/>
            <a:ext cx="2133524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298448"/>
            <a:ext cx="20420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151044" y="1298448"/>
            <a:ext cx="2133524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6764" y="1298448"/>
            <a:ext cx="20420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Inputs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7376008" y="1298448"/>
            <a:ext cx="2133524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1728" y="1298448"/>
            <a:ext cx="20420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Sketch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9600971" y="1298448"/>
            <a:ext cx="2133524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46691" y="1298448"/>
            <a:ext cx="20420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Controls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40664" y="1874520"/>
            <a:ext cx="128016" cy="105156"/>
          </a:xfrm>
          <a:prstGeom prst="downArrow">
            <a:avLst/>
          </a:prstGeom>
          <a:solidFill>
            <a:srgbClr val="B7B7B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98882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2135124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1351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198882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26080" y="2080260"/>
            <a:ext cx="1688531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71800" y="2080260"/>
            <a:ext cx="15970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706051" y="2080260"/>
            <a:ext cx="1688531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1771" y="2080260"/>
            <a:ext cx="15970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486022" y="2080260"/>
            <a:ext cx="1688531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1742" y="2080260"/>
            <a:ext cx="15970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Extraction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65993" y="2080260"/>
            <a:ext cx="1688531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11713" y="2080260"/>
            <a:ext cx="15970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Function Calling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10045964" y="2080260"/>
            <a:ext cx="1688531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91684" y="2080260"/>
            <a:ext cx="15970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Refinement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40664" y="2656332"/>
            <a:ext cx="128016" cy="105156"/>
          </a:xfrm>
          <a:prstGeom prst="downArrow">
            <a:avLst/>
          </a:prstGeom>
          <a:solidFill>
            <a:srgbClr val="B7B7B7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2770632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" y="2916936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1792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" y="277063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926080" y="2862072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71800" y="2862072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Search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4409389" y="2862072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55109" y="2862072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Optimizer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5892698" y="2862072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38418" y="2862072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Validation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7376008" y="2862072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21728" y="2862072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Validation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8859317" y="2862072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05037" y="2862072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Validation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10342626" y="2862072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388346" y="2862072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/ Clearance Validation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740664" y="3438144"/>
            <a:ext cx="128016" cy="105156"/>
          </a:xfrm>
          <a:prstGeom prst="downArrow">
            <a:avLst/>
          </a:prstGeom>
          <a:solidFill>
            <a:srgbClr val="B7B7B7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3552444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" y="3698748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1792" y="36987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355244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PRODUCT DATA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926080" y="3643884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971800" y="3643884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4409389" y="3643884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55109" y="3643884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5892698" y="3643884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938418" y="3643884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376008" y="3643884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421728" y="3643884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8859317" y="3643884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05037" y="3643884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10342626" y="3643884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388346" y="3643884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740664" y="4219956"/>
            <a:ext cx="128016" cy="105156"/>
          </a:xfrm>
          <a:prstGeom prst="downArrow">
            <a:avLst/>
          </a:prstGeom>
          <a:solidFill>
            <a:srgbClr val="B7B7B7"/>
          </a:solidFill>
          <a:ln/>
        </p:spPr>
      </p:sp>
      <p:sp>
        <p:nvSpPr>
          <p:cNvPr id="66" name="Shape 64"/>
          <p:cNvSpPr/>
          <p:nvPr/>
        </p:nvSpPr>
        <p:spPr>
          <a:xfrm>
            <a:off x="457200" y="4334256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21792" y="4480560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21792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115568" y="43342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STATE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2926080" y="4425696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971800" y="4425696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Dimensions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4409389" y="4425696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455109" y="4425696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Fixtures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5892698" y="4425696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938418" y="4425696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7376008" y="4425696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421728" y="4425696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760" dirty="0"/>
          </a:p>
        </p:txBody>
      </p:sp>
      <p:sp>
        <p:nvSpPr>
          <p:cNvPr id="78" name="Shape 76"/>
          <p:cNvSpPr/>
          <p:nvPr/>
        </p:nvSpPr>
        <p:spPr>
          <a:xfrm>
            <a:off x="8859317" y="4425696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905037" y="4425696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60" dirty="0"/>
          </a:p>
        </p:txBody>
      </p:sp>
      <p:sp>
        <p:nvSpPr>
          <p:cNvPr id="80" name="Shape 78"/>
          <p:cNvSpPr/>
          <p:nvPr/>
        </p:nvSpPr>
        <p:spPr>
          <a:xfrm>
            <a:off x="10342626" y="4425696"/>
            <a:ext cx="1391869" cy="475488"/>
          </a:xfrm>
          <a:prstGeom prst="roundRect">
            <a:avLst>
              <a:gd name="adj" fmla="val 67308"/>
            </a:avLst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388346" y="4425696"/>
            <a:ext cx="13004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Parameters</a:t>
            </a:r>
            <a:endParaRPr lang="en-US" sz="760" dirty="0"/>
          </a:p>
        </p:txBody>
      </p:sp>
      <p:sp>
        <p:nvSpPr>
          <p:cNvPr id="82" name="Shape 80"/>
          <p:cNvSpPr/>
          <p:nvPr/>
        </p:nvSpPr>
        <p:spPr>
          <a:xfrm>
            <a:off x="740664" y="5001768"/>
            <a:ext cx="128016" cy="105156"/>
          </a:xfrm>
          <a:prstGeom prst="downArrow">
            <a:avLst/>
          </a:prstGeom>
          <a:solidFill>
            <a:srgbClr val="B7B7B7"/>
          </a:solidFill>
          <a:ln/>
        </p:spPr>
      </p:sp>
      <p:sp>
        <p:nvSpPr>
          <p:cNvPr id="83" name="Shape 81"/>
          <p:cNvSpPr/>
          <p:nvPr/>
        </p:nvSpPr>
        <p:spPr>
          <a:xfrm>
            <a:off x="457200" y="5116068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21792" y="526237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21792" y="5262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115568" y="51160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2926080" y="5207508"/>
            <a:ext cx="2875178" cy="475488"/>
          </a:xfrm>
          <a:prstGeom prst="roundRect">
            <a:avLst>
              <a:gd name="adj" fmla="val 67308"/>
            </a:avLst>
          </a:prstGeom>
          <a:solidFill>
            <a:srgbClr val="4D4D4D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2971800" y="5207508"/>
            <a:ext cx="27837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PLAN</a:t>
            </a:r>
            <a:endParaRPr lang="en-US" sz="860" dirty="0"/>
          </a:p>
        </p:txBody>
      </p:sp>
      <p:sp>
        <p:nvSpPr>
          <p:cNvPr id="89" name="Shape 87"/>
          <p:cNvSpPr/>
          <p:nvPr/>
        </p:nvSpPr>
        <p:spPr>
          <a:xfrm>
            <a:off x="5892698" y="5207508"/>
            <a:ext cx="2875178" cy="475488"/>
          </a:xfrm>
          <a:prstGeom prst="roundRect">
            <a:avLst>
              <a:gd name="adj" fmla="val 67308"/>
            </a:avLst>
          </a:prstGeom>
          <a:solidFill>
            <a:srgbClr val="4D4D4D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938418" y="5207508"/>
            <a:ext cx="27837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VISUALIZATION</a:t>
            </a:r>
            <a:endParaRPr lang="en-US" sz="860" dirty="0"/>
          </a:p>
        </p:txBody>
      </p:sp>
      <p:sp>
        <p:nvSpPr>
          <p:cNvPr id="91" name="Shape 89"/>
          <p:cNvSpPr/>
          <p:nvPr/>
        </p:nvSpPr>
        <p:spPr>
          <a:xfrm>
            <a:off x="8859317" y="5207508"/>
            <a:ext cx="2875178" cy="475488"/>
          </a:xfrm>
          <a:prstGeom prst="roundRect">
            <a:avLst>
              <a:gd name="adj" fmla="val 67308"/>
            </a:avLst>
          </a:prstGeom>
          <a:solidFill>
            <a:srgbClr val="4D4D4D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905037" y="5207508"/>
            <a:ext cx="27837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860" dirty="0"/>
          </a:p>
        </p:txBody>
      </p:sp>
      <p:sp>
        <p:nvSpPr>
          <p:cNvPr id="93" name="Shape 91"/>
          <p:cNvSpPr/>
          <p:nvPr/>
        </p:nvSpPr>
        <p:spPr>
          <a:xfrm>
            <a:off x="457200" y="5989320"/>
            <a:ext cx="360669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548640" y="598932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Understanding + Orchestration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292498" y="5989320"/>
            <a:ext cx="360669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4383938" y="598932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= Validation + Execution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127797" y="5989320"/>
            <a:ext cx="360669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8219237" y="598932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State = Single Source of Truth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1091153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AI BATHROOM DESIGNER &amp; PLANNER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2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624986" cy="1627632"/>
          </a:xfrm>
          <a:prstGeom prst="roundRect">
            <a:avLst>
              <a:gd name="adj" fmla="val 4494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91056"/>
            <a:ext cx="322265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280160"/>
            <a:ext cx="322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00784"/>
            <a:ext cx="322265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React Three Fiber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Canvas / Plan View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83354" y="1170432"/>
            <a:ext cx="3624986" cy="1627632"/>
          </a:xfrm>
          <a:prstGeom prst="roundRect">
            <a:avLst>
              <a:gd name="adj" fmla="val 4494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4522" y="1591056"/>
            <a:ext cx="322265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4522" y="1280160"/>
            <a:ext cx="322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84522" y="1700784"/>
            <a:ext cx="322265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9509" y="1170432"/>
            <a:ext cx="3624986" cy="1627632"/>
          </a:xfrm>
          <a:prstGeom prst="roundRect">
            <a:avLst>
              <a:gd name="adj" fmla="val 4494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10677" y="1591056"/>
            <a:ext cx="322265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10677" y="1280160"/>
            <a:ext cx="322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10677" y="1700784"/>
            <a:ext cx="322265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Function Calling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LLM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3624986" cy="1627632"/>
          </a:xfrm>
          <a:prstGeom prst="roundRect">
            <a:avLst>
              <a:gd name="adj" fmla="val 4494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419856"/>
            <a:ext cx="322265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08960"/>
            <a:ext cx="322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529584"/>
            <a:ext cx="322265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Product Catalog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Specifications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83354" y="2999232"/>
            <a:ext cx="3624986" cy="1627632"/>
          </a:xfrm>
          <a:prstGeom prst="roundRect">
            <a:avLst>
              <a:gd name="adj" fmla="val 4494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4522" y="3419856"/>
            <a:ext cx="322265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4522" y="3108960"/>
            <a:ext cx="322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484522" y="3529584"/>
            <a:ext cx="322265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WebGL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Layout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Product Models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/ AR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iOS-compatible AR 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9509" y="2999232"/>
            <a:ext cx="3624986" cy="1627632"/>
          </a:xfrm>
          <a:prstGeom prst="roundRect">
            <a:avLst>
              <a:gd name="adj" fmla="val 4494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10677" y="3419856"/>
            <a:ext cx="322265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10677" y="3108960"/>
            <a:ext cx="322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10677" y="3529584"/>
            <a:ext cx="322265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API Keys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864608"/>
            <a:ext cx="1438612" cy="420624"/>
          </a:xfrm>
          <a:prstGeom prst="roundRect">
            <a:avLst>
              <a:gd name="adj" fmla="val 4782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" y="4864608"/>
            <a:ext cx="1365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914100" y="5001768"/>
            <a:ext cx="164592" cy="146304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2096980" y="4864608"/>
            <a:ext cx="1438612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33556" y="4864608"/>
            <a:ext cx="1365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553881" y="5001768"/>
            <a:ext cx="164592" cy="146304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34" name="Shape 32"/>
          <p:cNvSpPr/>
          <p:nvPr/>
        </p:nvSpPr>
        <p:spPr>
          <a:xfrm>
            <a:off x="3736761" y="4864608"/>
            <a:ext cx="1438612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73337" y="4864608"/>
            <a:ext cx="1365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193661" y="5001768"/>
            <a:ext cx="164592" cy="146304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37" name="Shape 35"/>
          <p:cNvSpPr/>
          <p:nvPr/>
        </p:nvSpPr>
        <p:spPr>
          <a:xfrm>
            <a:off x="5376541" y="4864608"/>
            <a:ext cx="1438612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13117" y="4864608"/>
            <a:ext cx="1365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App Logic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833442" y="5001768"/>
            <a:ext cx="164592" cy="146304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40" name="Shape 38"/>
          <p:cNvSpPr/>
          <p:nvPr/>
        </p:nvSpPr>
        <p:spPr>
          <a:xfrm>
            <a:off x="7016322" y="4864608"/>
            <a:ext cx="1438612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52898" y="4864608"/>
            <a:ext cx="1365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Catalog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8473222" y="5001768"/>
            <a:ext cx="164592" cy="146304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43" name="Shape 41"/>
          <p:cNvSpPr/>
          <p:nvPr/>
        </p:nvSpPr>
        <p:spPr>
          <a:xfrm>
            <a:off x="8656102" y="4864608"/>
            <a:ext cx="1438612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92678" y="4864608"/>
            <a:ext cx="1365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State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10113003" y="5001768"/>
            <a:ext cx="164592" cy="146304"/>
          </a:xfrm>
          <a:prstGeom prst="rightArrow">
            <a:avLst/>
          </a:prstGeom>
          <a:solidFill>
            <a:srgbClr val="8C8C8C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95883" y="4864608"/>
            <a:ext cx="1438612" cy="420624"/>
          </a:xfrm>
          <a:prstGeom prst="roundRect">
            <a:avLst>
              <a:gd name="adj" fmla="val 4782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332459" y="4864608"/>
            <a:ext cx="1365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/ 3D / AR</a:t>
            </a:r>
            <a:endParaRPr lang="en-US" sz="86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5522976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PRINCIPLES   </a:t>
            </a:r>
            <a:r>
              <a:rPr lang="en-US" sz="10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  •  Secure API Configuration  •  Validation  •  Graceful Error Handling  •  Reusable Design State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91153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AI BATHROOM DESIGNER &amp; PLANNER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INNOVATION PITCH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Product Recommendation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Bathroom Design Loop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35915" y="1837944"/>
            <a:ext cx="562244" cy="324612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7200000">
            <a:off x="4284293" y="1957639"/>
            <a:ext cx="155448" cy="137160"/>
          </a:xfrm>
          <a:prstGeom prst="triangle">
            <a:avLst/>
          </a:prstGeom>
          <a:solidFill>
            <a:srgbClr val="E8E8E8"/>
          </a:solidFill>
          <a:ln/>
        </p:spPr>
      </p:sp>
      <p:sp>
        <p:nvSpPr>
          <p:cNvPr id="7" name="Shape 5"/>
          <p:cNvSpPr/>
          <p:nvPr/>
        </p:nvSpPr>
        <p:spPr>
          <a:xfrm>
            <a:off x="4930755" y="2738628"/>
            <a:ext cx="0" cy="649224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853031" y="3046598"/>
            <a:ext cx="155448" cy="137160"/>
          </a:xfrm>
          <a:prstGeom prst="triangle">
            <a:avLst/>
          </a:prstGeom>
          <a:solidFill>
            <a:srgbClr val="E8E8E8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4035915" y="3963924"/>
            <a:ext cx="562244" cy="324612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00">
            <a:off x="4194334" y="4083619"/>
            <a:ext cx="155448" cy="137160"/>
          </a:xfrm>
          <a:prstGeom prst="triangle">
            <a:avLst/>
          </a:prstGeom>
          <a:solidFill>
            <a:srgbClr val="E8E8E8"/>
          </a:solidFill>
          <a:ln/>
        </p:spPr>
      </p:sp>
      <p:sp>
        <p:nvSpPr>
          <p:cNvPr id="11" name="Shape 9"/>
          <p:cNvSpPr/>
          <p:nvPr/>
        </p:nvSpPr>
        <p:spPr>
          <a:xfrm flipH="1" flipV="1">
            <a:off x="2808480" y="3963924"/>
            <a:ext cx="562244" cy="324612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3600000">
            <a:off x="2966899" y="4031681"/>
            <a:ext cx="155448" cy="137160"/>
          </a:xfrm>
          <a:prstGeom prst="triangle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 flipV="1">
            <a:off x="2475885" y="2738628"/>
            <a:ext cx="0" cy="649224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8161" y="2942722"/>
            <a:ext cx="155448" cy="137160"/>
          </a:xfrm>
          <a:prstGeom prst="triangle">
            <a:avLst/>
          </a:prstGeom>
          <a:solidFill>
            <a:srgbClr val="E8E8E8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2808480" y="1837944"/>
            <a:ext cx="562244" cy="324612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3600000">
            <a:off x="3056858" y="1905701"/>
            <a:ext cx="155448" cy="137160"/>
          </a:xfrm>
          <a:prstGeom prst="triangle">
            <a:avLst/>
          </a:prstGeom>
          <a:solidFill>
            <a:srgbClr val="E8E8E8"/>
          </a:solidFill>
          <a:ln/>
        </p:spPr>
      </p:sp>
      <p:sp>
        <p:nvSpPr>
          <p:cNvPr id="17" name="Shape 15"/>
          <p:cNvSpPr/>
          <p:nvPr/>
        </p:nvSpPr>
        <p:spPr>
          <a:xfrm>
            <a:off x="3136392" y="2496312"/>
            <a:ext cx="1133856" cy="113385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54680" y="2514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kern="0" spc="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kern="0" spc="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13898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i="1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00" b="1" i="1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94660" y="1362456"/>
            <a:ext cx="1417320" cy="566928"/>
          </a:xfrm>
          <a:prstGeom prst="roundRect">
            <a:avLst>
              <a:gd name="adj" fmla="val 48387"/>
            </a:avLst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031236" y="1362456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4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222095" y="2071116"/>
            <a:ext cx="1417320" cy="566928"/>
          </a:xfrm>
          <a:prstGeom prst="roundRect">
            <a:avLst>
              <a:gd name="adj" fmla="val 48387"/>
            </a:avLst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258671" y="2071116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4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222095" y="3488436"/>
            <a:ext cx="1417320" cy="566928"/>
          </a:xfrm>
          <a:prstGeom prst="roundRect">
            <a:avLst>
              <a:gd name="adj" fmla="val 48387"/>
            </a:avLst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258671" y="3488436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PRODUCTS</a:t>
            </a:r>
            <a:endParaRPr lang="en-US" sz="84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CONSTRAINTS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2994660" y="4197096"/>
            <a:ext cx="1417320" cy="566928"/>
          </a:xfrm>
          <a:prstGeom prst="roundRect">
            <a:avLst>
              <a:gd name="adj" fmla="val 48387"/>
            </a:avLst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031236" y="4197096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</a:t>
            </a:r>
            <a:endParaRPr lang="en-US" sz="84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1767225" y="3488436"/>
            <a:ext cx="1417320" cy="566928"/>
          </a:xfrm>
          <a:prstGeom prst="roundRect">
            <a:avLst>
              <a:gd name="adj" fmla="val 48387"/>
            </a:avLst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803801" y="3488436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/ 3D / AR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1767225" y="2071116"/>
            <a:ext cx="1417320" cy="566928"/>
          </a:xfrm>
          <a:prstGeom prst="roundRect">
            <a:avLst>
              <a:gd name="adj" fmla="val 48387"/>
            </a:avLst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803801" y="2071116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4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623560" y="1051560"/>
            <a:ext cx="6108192" cy="713232"/>
          </a:xfrm>
          <a:prstGeom prst="roundRect">
            <a:avLst>
              <a:gd name="adj" fmla="val 8974"/>
            </a:avLst>
          </a:prstGeom>
          <a:solidFill>
            <a:srgbClr val="1E1E1E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88152" y="1124712"/>
            <a:ext cx="51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112471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336792" y="1353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replaces complex configuration flows — lowering the barrier between intent and design.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623560" y="1883664"/>
            <a:ext cx="6108192" cy="713232"/>
          </a:xfrm>
          <a:prstGeom prst="roundRect">
            <a:avLst>
              <a:gd name="adj" fmla="val 8974"/>
            </a:avLst>
          </a:prstGeom>
          <a:solidFill>
            <a:srgbClr val="1E1E1E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88152" y="1956816"/>
            <a:ext cx="51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336792" y="195681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336792" y="218541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validated against budget, dimensions, specifications and spatial clearance before it reaches the user.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5623560" y="2715768"/>
            <a:ext cx="6108192" cy="713232"/>
          </a:xfrm>
          <a:prstGeom prst="roundRect">
            <a:avLst>
              <a:gd name="adj" fmla="val 8974"/>
            </a:avLst>
          </a:prstGeom>
          <a:solidFill>
            <a:srgbClr val="1E1E1E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88152" y="2788920"/>
            <a:ext cx="51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336792" y="278892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KOHLER-GROUNDED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336792" y="30175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drawn from the real KOHLER product catalog — not generic, hallucinated suggestions.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623560" y="3547872"/>
            <a:ext cx="6108192" cy="713232"/>
          </a:xfrm>
          <a:prstGeom prst="roundRect">
            <a:avLst>
              <a:gd name="adj" fmla="val 8974"/>
            </a:avLst>
          </a:prstGeom>
          <a:solidFill>
            <a:srgbClr val="1E1E1E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788152" y="3621024"/>
            <a:ext cx="51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6336792" y="362102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→ EXPERIENCE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336792" y="38496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stop at a product list — it turns validated choices into a visual, spatial, immersive bathroom.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623560" y="4379976"/>
            <a:ext cx="6108192" cy="713232"/>
          </a:xfrm>
          <a:prstGeom prst="roundRect">
            <a:avLst>
              <a:gd name="adj" fmla="val 8974"/>
            </a:avLst>
          </a:prstGeom>
          <a:solidFill>
            <a:srgbClr val="1E1E1E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788152" y="4453128"/>
            <a:ext cx="51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6336792" y="445312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336792" y="46817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constraint checks collapse multiple showroom visits and revision cycles into a single guided session.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5623560" y="5212080"/>
            <a:ext cx="6108192" cy="713232"/>
          </a:xfrm>
          <a:prstGeom prst="roundRect">
            <a:avLst>
              <a:gd name="adj" fmla="val 8974"/>
            </a:avLst>
          </a:prstGeom>
          <a:solidFill>
            <a:srgbClr val="1E1E1E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88152" y="5285232"/>
            <a:ext cx="51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6336792" y="528523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COSTLY MISMATCHES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336792" y="55138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dimension and clearance validation happen before purchase — reducing returns, delays and installation rework.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457200" y="6053328"/>
            <a:ext cx="11277295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7240" y="6053328"/>
            <a:ext cx="10637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AI-orchestrated workflow — from product intelligence to spatial reasoning to immersive visualization — delivering a validated, deployable bathroom design.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91153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AI BATHROOM DESIGNER &amp; PLANNER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550</Words>
  <Application>Microsoft Office PowerPoint</Application>
  <PresentationFormat>Widescreen</PresentationFormat>
  <Paragraphs>166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Archita Jha</cp:lastModifiedBy>
  <cp:revision>2</cp:revision>
  <dcterms:created xsi:type="dcterms:W3CDTF">2026-09-19T09:44:49Z</dcterms:created>
  <dcterms:modified xsi:type="dcterms:W3CDTF">2026-09-19T09:52:19Z</dcterms:modified>
</cp:coreProperties>
</file>